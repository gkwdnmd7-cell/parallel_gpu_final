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6"/>
  </p:notesMasterIdLst>
  <p:sldIdLst>
    <p:sldId id="861" r:id="rId2"/>
    <p:sldId id="862" r:id="rId3"/>
    <p:sldId id="914" r:id="rId4"/>
    <p:sldId id="940" r:id="rId5"/>
    <p:sldId id="941" r:id="rId6"/>
    <p:sldId id="942" r:id="rId7"/>
    <p:sldId id="944" r:id="rId8"/>
    <p:sldId id="946" r:id="rId9"/>
    <p:sldId id="937" r:id="rId10"/>
    <p:sldId id="947" r:id="rId11"/>
    <p:sldId id="945" r:id="rId12"/>
    <p:sldId id="948" r:id="rId13"/>
    <p:sldId id="949" r:id="rId14"/>
    <p:sldId id="935" r:id="rId15"/>
  </p:sldIdLst>
  <p:sldSz cx="12192000" cy="6858000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SzPct val="100000"/>
      <a:buFont typeface="Times New Roman" pitchFamily="18" charset="0"/>
      <a:defRPr b="1" kern="1200">
        <a:solidFill>
          <a:schemeClr val="bg1"/>
        </a:solidFill>
        <a:latin typeface="黑体" pitchFamily="49" charset="-122"/>
        <a:ea typeface="宋体" pitchFamily="2" charset="-122"/>
        <a:cs typeface="+mn-cs"/>
      </a:defRPr>
    </a:lvl1pPr>
    <a:lvl2pPr marL="742950" indent="-285750" algn="l" defTabSz="449263" rtl="0" fontAlgn="base">
      <a:spcBef>
        <a:spcPct val="0"/>
      </a:spcBef>
      <a:spcAft>
        <a:spcPct val="0"/>
      </a:spcAft>
      <a:buSzPct val="100000"/>
      <a:buFont typeface="Times New Roman" pitchFamily="18" charset="0"/>
      <a:defRPr b="1" kern="1200">
        <a:solidFill>
          <a:schemeClr val="bg1"/>
        </a:solidFill>
        <a:latin typeface="黑体" pitchFamily="49" charset="-122"/>
        <a:ea typeface="宋体" pitchFamily="2" charset="-122"/>
        <a:cs typeface="+mn-cs"/>
      </a:defRPr>
    </a:lvl2pPr>
    <a:lvl3pPr marL="1143000" indent="-228600" algn="l" defTabSz="449263" rtl="0" fontAlgn="base">
      <a:spcBef>
        <a:spcPct val="0"/>
      </a:spcBef>
      <a:spcAft>
        <a:spcPct val="0"/>
      </a:spcAft>
      <a:buSzPct val="100000"/>
      <a:buFont typeface="Times New Roman" pitchFamily="18" charset="0"/>
      <a:defRPr b="1" kern="1200">
        <a:solidFill>
          <a:schemeClr val="bg1"/>
        </a:solidFill>
        <a:latin typeface="黑体" pitchFamily="49" charset="-122"/>
        <a:ea typeface="宋体" pitchFamily="2" charset="-122"/>
        <a:cs typeface="+mn-cs"/>
      </a:defRPr>
    </a:lvl3pPr>
    <a:lvl4pPr marL="1600200" indent="-228600" algn="l" defTabSz="449263" rtl="0" fontAlgn="base">
      <a:spcBef>
        <a:spcPct val="0"/>
      </a:spcBef>
      <a:spcAft>
        <a:spcPct val="0"/>
      </a:spcAft>
      <a:buSzPct val="100000"/>
      <a:buFont typeface="Times New Roman" pitchFamily="18" charset="0"/>
      <a:defRPr b="1" kern="1200">
        <a:solidFill>
          <a:schemeClr val="bg1"/>
        </a:solidFill>
        <a:latin typeface="黑体" pitchFamily="49" charset="-122"/>
        <a:ea typeface="宋体" pitchFamily="2" charset="-122"/>
        <a:cs typeface="+mn-cs"/>
      </a:defRPr>
    </a:lvl4pPr>
    <a:lvl5pPr marL="2057400" indent="-228600" algn="l" defTabSz="449263" rtl="0" fontAlgn="base">
      <a:spcBef>
        <a:spcPct val="0"/>
      </a:spcBef>
      <a:spcAft>
        <a:spcPct val="0"/>
      </a:spcAft>
      <a:buSzPct val="100000"/>
      <a:buFont typeface="Times New Roman" pitchFamily="18" charset="0"/>
      <a:defRPr b="1" kern="1200">
        <a:solidFill>
          <a:schemeClr val="bg1"/>
        </a:solidFill>
        <a:latin typeface="黑体" pitchFamily="49" charset="-122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bg1"/>
        </a:solidFill>
        <a:latin typeface="黑体" pitchFamily="49" charset="-122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bg1"/>
        </a:solidFill>
        <a:latin typeface="黑体" pitchFamily="49" charset="-122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bg1"/>
        </a:solidFill>
        <a:latin typeface="黑体" pitchFamily="49" charset="-122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bg1"/>
        </a:solidFill>
        <a:latin typeface="黑体" pitchFamily="49" charset="-122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9A0C02"/>
    <a:srgbClr val="FF00FF"/>
    <a:srgbClr val="00FFCC"/>
    <a:srgbClr val="FFFF00"/>
    <a:srgbClr val="FF99FF"/>
    <a:srgbClr val="FF9900"/>
    <a:srgbClr val="C49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7733" autoAdjust="0"/>
  </p:normalViewPr>
  <p:slideViewPr>
    <p:cSldViewPr>
      <p:cViewPr varScale="1">
        <p:scale>
          <a:sx n="71" d="100"/>
          <a:sy n="71" d="100"/>
        </p:scale>
        <p:origin x="1128" y="43"/>
      </p:cViewPr>
      <p:guideLst>
        <p:guide orient="horz" pos="2188"/>
        <p:guide pos="381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45003" cy="4500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0"/>
            <a:ext cx="2970213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3883025" y="0"/>
            <a:ext cx="29718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 b="0">
                <a:latin typeface="Calibri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82625"/>
            <a:ext cx="6091237" cy="342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70" name="Rectangle 6"/>
          <p:cNvSpPr>
            <a:spLocks noGrp="1" noChangeArrowheads="1"/>
          </p:cNvSpPr>
          <p:nvPr>
            <p:ph type="body"/>
          </p:nvPr>
        </p:nvSpPr>
        <p:spPr bwMode="auto">
          <a:xfrm>
            <a:off x="684213" y="4341813"/>
            <a:ext cx="5483225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en-US" noProof="0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0" y="8682038"/>
            <a:ext cx="297021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272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3883025" y="8682038"/>
            <a:ext cx="2971800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 b="0">
                <a:latin typeface="Calibri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B6134F19-AE25-47C3-BDDD-CE780F2561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686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itchFamily="18" charset="0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itchFamily="18" charset="0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itchFamily="18" charset="0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itchFamily="18" charset="0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itchFamily="18" charset="0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671378"/>
            <a:ext cx="10363200" cy="3881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pic>
        <p:nvPicPr>
          <p:cNvPr id="4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4221" y="434443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097" y="5983113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-12183"/>
            <a:ext cx="1218776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09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39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59708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5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6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73667" y="1447800"/>
            <a:ext cx="52832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60067" y="1447800"/>
            <a:ext cx="52832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6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27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652078"/>
            <a:ext cx="10972800" cy="3881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8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113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4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46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412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1136557"/>
            <a:ext cx="4011084" cy="29854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6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531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5068795"/>
            <a:ext cx="7315200" cy="29854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6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91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22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03007" y="758826"/>
            <a:ext cx="388120" cy="55657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73667" y="758826"/>
            <a:ext cx="7874000" cy="55657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Picture 114" descr="Content_Bottom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4986" y="411160"/>
            <a:ext cx="12187767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D:\logo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12" y="32161"/>
            <a:ext cx="2842289" cy="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63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14" descr="Content_Bottom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446838"/>
            <a:ext cx="1218776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73667" y="756854"/>
            <a:ext cx="10464800" cy="388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3667" y="1447800"/>
            <a:ext cx="1076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36"/>
          <p:cNvSpPr>
            <a:spLocks noChangeArrowheads="1"/>
          </p:cNvSpPr>
          <p:nvPr/>
        </p:nvSpPr>
        <p:spPr bwMode="auto">
          <a:xfrm>
            <a:off x="11379200" y="6553200"/>
            <a:ext cx="30480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r">
              <a:buFontTx/>
              <a:buNone/>
              <a:defRPr/>
            </a:pPr>
            <a:fld id="{1D47873D-12B0-4F01-A9BE-86A86A18ACBC}" type="slidenum">
              <a:rPr lang="zh-CN" altLang="en-US" sz="700">
                <a:latin typeface="Verdana" pitchFamily="34" charset="0"/>
              </a:rPr>
              <a:pPr algn="r">
                <a:buFontTx/>
                <a:buNone/>
                <a:defRPr/>
              </a:pPr>
              <a:t>‹#›</a:t>
            </a:fld>
            <a:endParaRPr lang="en-US" altLang="zh-CN" sz="700">
              <a:latin typeface="Verdana" pitchFamily="34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 userDrawn="1"/>
        </p:nvSpPr>
        <p:spPr bwMode="auto">
          <a:xfrm>
            <a:off x="3515829" y="6532791"/>
            <a:ext cx="7785056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9pPr>
          </a:lstStyle>
          <a:p>
            <a:pPr algn="r" eaLnBrk="1" hangingPunct="1">
              <a:buFontTx/>
              <a:buNone/>
              <a:defRPr/>
            </a:pPr>
            <a:r>
              <a:rPr lang="zh-CN" altLang="en-US" sz="1400" dirty="0">
                <a:solidFill>
                  <a:srgbClr val="FFC726"/>
                </a:solidFill>
                <a:latin typeface="黑体" pitchFamily="49" charset="-122"/>
                <a:ea typeface="宋体" pitchFamily="2" charset="-122"/>
              </a:rPr>
              <a:t>北京邮电大学计算机学院</a:t>
            </a:r>
            <a:r>
              <a:rPr lang="en-US" altLang="zh-CN" sz="1400" dirty="0">
                <a:solidFill>
                  <a:srgbClr val="FFC726"/>
                </a:solidFill>
                <a:latin typeface="黑体" pitchFamily="49" charset="-122"/>
                <a:ea typeface="宋体" pitchFamily="2" charset="-122"/>
              </a:rPr>
              <a:t>----</a:t>
            </a:r>
            <a:r>
              <a:rPr lang="zh-CN" altLang="en-US" sz="1400" dirty="0">
                <a:solidFill>
                  <a:srgbClr val="FFC726"/>
                </a:solidFill>
                <a:latin typeface="黑体" pitchFamily="49" charset="-122"/>
                <a:ea typeface="宋体" pitchFamily="2" charset="-122"/>
              </a:rPr>
              <a:t>计算智能与可视化实验组</a:t>
            </a:r>
            <a:r>
              <a:rPr lang="en-US" altLang="zh-CN" sz="1400" dirty="0">
                <a:solidFill>
                  <a:srgbClr val="FFC726"/>
                </a:solidFill>
                <a:latin typeface="Verdana" pitchFamily="34" charset="0"/>
                <a:ea typeface="黑体" pitchFamily="49" charset="-122"/>
              </a:rPr>
              <a:t>© 2026Spring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29095" y="6477603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788D7FC-694D-4976-9866-54E717C9E473}" type="datetime11">
              <a:rPr lang="zh-CN" altLang="en-US" smtClean="0">
                <a:solidFill>
                  <a:schemeClr val="bg1">
                    <a:lumMod val="50000"/>
                  </a:schemeClr>
                </a:solidFill>
              </a:rPr>
              <a:t>07:18:13</a:t>
            </a:fld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/>
  <p:txStyles>
    <p:titleStyle>
      <a:lvl1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黑体" pitchFamily="49" charset="-122"/>
          <a:ea typeface="黑体" pitchFamily="49" charset="-122"/>
        </a:defRPr>
      </a:lvl5pPr>
      <a:lvl6pPr marL="457200"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黑体" pitchFamily="49" charset="-122"/>
          <a:ea typeface="黑体" pitchFamily="49" charset="-122"/>
        </a:defRPr>
      </a:lvl6pPr>
      <a:lvl7pPr marL="914400"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黑体" pitchFamily="49" charset="-122"/>
          <a:ea typeface="黑体" pitchFamily="49" charset="-122"/>
        </a:defRPr>
      </a:lvl7pPr>
      <a:lvl8pPr marL="1371600"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黑体" pitchFamily="49" charset="-122"/>
          <a:ea typeface="黑体" pitchFamily="49" charset="-122"/>
        </a:defRPr>
      </a:lvl8pPr>
      <a:lvl9pPr marL="1828800"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黑体" pitchFamily="49" charset="-122"/>
          <a:ea typeface="黑体" pitchFamily="49" charset="-122"/>
        </a:defRPr>
      </a:lvl9pPr>
    </p:titleStyle>
    <p:bodyStyle>
      <a:lvl1pPr marL="230188" indent="-230188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itchFamily="2" charset="2"/>
        <a:buChar char="§"/>
        <a:defRPr sz="1600" b="1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3177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Arial" charset="0"/>
        <a:buChar char="-"/>
        <a:defRPr sz="1600" b="1">
          <a:solidFill>
            <a:schemeClr val="tx1"/>
          </a:solidFill>
          <a:latin typeface="+mn-lt"/>
          <a:ea typeface="+mn-ea"/>
        </a:defRPr>
      </a:lvl2pPr>
      <a:lvl3pPr marL="1025525" indent="-222250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Char char="•"/>
        <a:defRPr sz="1600" b="1">
          <a:solidFill>
            <a:schemeClr val="tx1"/>
          </a:solidFill>
          <a:latin typeface="Arial" pitchFamily="34" charset="0"/>
          <a:ea typeface="+mn-ea"/>
        </a:defRPr>
      </a:lvl3pPr>
      <a:lvl4pPr marL="1376363" indent="-23177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itchFamily="2" charset="2"/>
        <a:buChar char="©"/>
        <a:defRPr sz="1600" b="1">
          <a:solidFill>
            <a:schemeClr val="tx1"/>
          </a:solidFill>
          <a:latin typeface="Arial" pitchFamily="34" charset="0"/>
          <a:ea typeface="+mn-ea"/>
        </a:defRPr>
      </a:lvl4pPr>
      <a:lvl5pPr marL="17176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itchFamily="2" charset="2"/>
        <a:buChar char="§"/>
        <a:defRPr sz="1600" b="1">
          <a:solidFill>
            <a:schemeClr val="tx1"/>
          </a:solidFill>
          <a:latin typeface="Arial" pitchFamily="34" charset="0"/>
          <a:ea typeface="+mn-ea"/>
        </a:defRPr>
      </a:lvl5pPr>
      <a:lvl6pPr marL="21748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itchFamily="2" charset="2"/>
        <a:buChar char="§"/>
        <a:defRPr sz="1600" b="1">
          <a:solidFill>
            <a:schemeClr val="tx1"/>
          </a:solidFill>
          <a:latin typeface="Arial" pitchFamily="34" charset="0"/>
          <a:ea typeface="+mn-ea"/>
        </a:defRPr>
      </a:lvl6pPr>
      <a:lvl7pPr marL="26320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itchFamily="2" charset="2"/>
        <a:buChar char="§"/>
        <a:defRPr sz="1600" b="1">
          <a:solidFill>
            <a:schemeClr val="tx1"/>
          </a:solidFill>
          <a:latin typeface="Arial" pitchFamily="34" charset="0"/>
          <a:ea typeface="+mn-ea"/>
        </a:defRPr>
      </a:lvl7pPr>
      <a:lvl8pPr marL="30892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itchFamily="2" charset="2"/>
        <a:buChar char="§"/>
        <a:defRPr sz="1600" b="1">
          <a:solidFill>
            <a:schemeClr val="tx1"/>
          </a:solidFill>
          <a:latin typeface="Arial" pitchFamily="34" charset="0"/>
          <a:ea typeface="+mn-ea"/>
        </a:defRPr>
      </a:lvl8pPr>
      <a:lvl9pPr marL="35464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itchFamily="2" charset="2"/>
        <a:buChar char="§"/>
        <a:defRPr sz="1600" b="1">
          <a:solidFill>
            <a:schemeClr val="tx1"/>
          </a:solidFill>
          <a:latin typeface="Arial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code.com/cann/ops-math/blob/master/math/atanh" TargetMode="External"/><Relationship Id="rId2" Type="http://schemas.openxmlformats.org/officeDocument/2006/relationships/hyperlink" Target="https://gitcode.com/cann/ops-math/tree/master/conversion/reshap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code.com/cann/ops-math/blob/master/docs/zh/op_list.md" TargetMode="External"/><Relationship Id="rId4" Type="http://schemas.openxmlformats.org/officeDocument/2006/relationships/hyperlink" Target="https://gitcode.com/cann/ops-math/blob/master/CONTRIBUTING.md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8201" y="594360"/>
            <a:ext cx="8955597" cy="1119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>
            <a:lvl1pPr marL="342900" indent="-342900" eaLnBrk="0" hangingPunct="0"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1pPr>
            <a:lvl2pPr eaLnBrk="0" hangingPunct="0"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2pPr>
            <a:lvl3pPr eaLnBrk="0" hangingPunct="0"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3pPr>
            <a:lvl4pPr eaLnBrk="0" hangingPunct="0"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4pPr>
            <a:lvl5pPr eaLnBrk="0" hangingPunct="0"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Font typeface="Times New Roman" pitchFamily="18" charset="0"/>
              <a:defRPr b="1">
                <a:solidFill>
                  <a:schemeClr val="bg1"/>
                </a:solidFill>
                <a:latin typeface="黑体" pitchFamily="49" charset="-122"/>
                <a:ea typeface="宋体" pitchFamily="2" charset="-122"/>
              </a:defRPr>
            </a:lvl9pPr>
          </a:lstStyle>
          <a:p>
            <a:pPr lvl="1" algn="ctr" eaLnBrk="1" hangingPunct="1">
              <a:lnSpc>
                <a:spcPct val="110000"/>
              </a:lnSpc>
              <a:buClr>
                <a:srgbClr val="FF9900"/>
              </a:buClr>
            </a:pPr>
            <a:r>
              <a:rPr lang="zh-CN" altLang="en-US" sz="7200" dirty="0">
                <a:solidFill>
                  <a:srgbClr val="00529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sym typeface="Arial" charset="0"/>
              </a:rPr>
              <a:t>并行计算与</a:t>
            </a:r>
            <a:r>
              <a:rPr lang="en-US" altLang="zh-CN" sz="7200" dirty="0">
                <a:solidFill>
                  <a:srgbClr val="00529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sym typeface="Arial" charset="0"/>
              </a:rPr>
              <a:t>GPU</a:t>
            </a:r>
            <a:r>
              <a:rPr lang="zh-CN" altLang="en-US" sz="7200" dirty="0">
                <a:solidFill>
                  <a:srgbClr val="00529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sym typeface="Arial" charset="0"/>
              </a:rPr>
              <a:t>编程</a:t>
            </a:r>
          </a:p>
        </p:txBody>
      </p:sp>
      <p:sp>
        <p:nvSpPr>
          <p:cNvPr id="5" name="副标题 1"/>
          <p:cNvSpPr txBox="1">
            <a:spLocks/>
          </p:cNvSpPr>
          <p:nvPr/>
        </p:nvSpPr>
        <p:spPr>
          <a:xfrm>
            <a:off x="2765038" y="1784408"/>
            <a:ext cx="7241955" cy="537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>
            <a:lvl1pPr marL="230188" indent="-230188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3177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Arial" charset="0"/>
              <a:buChar char="-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5525" indent="-222250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Char char="•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3pPr>
            <a:lvl4pPr marL="1376363" indent="-23177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©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4pPr>
            <a:lvl5pPr marL="17176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5pPr>
            <a:lvl6pPr marL="21748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6pPr>
            <a:lvl7pPr marL="26320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7pPr>
            <a:lvl8pPr marL="30892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8pPr>
            <a:lvl9pPr marL="35464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36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( 2025-2026</a:t>
            </a:r>
            <a:r>
              <a:rPr lang="zh-CN" altLang="en-US" sz="36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 第二学期（春季）</a:t>
            </a:r>
            <a:r>
              <a:rPr lang="en-US" altLang="zh-CN" sz="36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)</a:t>
            </a:r>
          </a:p>
        </p:txBody>
      </p:sp>
      <p:sp>
        <p:nvSpPr>
          <p:cNvPr id="6" name="副标题 1"/>
          <p:cNvSpPr txBox="1">
            <a:spLocks/>
          </p:cNvSpPr>
          <p:nvPr/>
        </p:nvSpPr>
        <p:spPr>
          <a:xfrm>
            <a:off x="3735063" y="2476701"/>
            <a:ext cx="4607127" cy="88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>
            <a:lvl1pPr marL="230188" indent="-230188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3177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Arial" charset="0"/>
              <a:buChar char="-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5525" indent="-222250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Char char="•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3pPr>
            <a:lvl4pPr marL="1376363" indent="-23177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©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4pPr>
            <a:lvl5pPr marL="17176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5pPr>
            <a:lvl6pPr marL="21748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6pPr>
            <a:lvl7pPr marL="26320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7pPr>
            <a:lvl8pPr marL="30892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8pPr>
            <a:lvl9pPr marL="35464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主讲：黄智濒</a:t>
            </a:r>
            <a:endParaRPr lang="en-US" altLang="zh-CN" sz="280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黑体" pitchFamily="49" charset="-122"/>
              <a:ea typeface="宋体" pitchFamily="2" charset="-122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10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黑体" pitchFamily="49" charset="-122"/>
              <a:ea typeface="宋体" pitchFamily="2" charset="-122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北京邮电大学计算机学院</a:t>
            </a:r>
            <a:endParaRPr lang="en-US" altLang="zh-CN" sz="200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黑体" pitchFamily="49" charset="-122"/>
              <a:ea typeface="宋体" pitchFamily="2" charset="-122"/>
            </a:endParaRPr>
          </a:p>
        </p:txBody>
      </p:sp>
      <p:sp>
        <p:nvSpPr>
          <p:cNvPr id="7" name="副标题 1"/>
          <p:cNvSpPr txBox="1">
            <a:spLocks/>
          </p:cNvSpPr>
          <p:nvPr/>
        </p:nvSpPr>
        <p:spPr>
          <a:xfrm>
            <a:off x="43713" y="170546"/>
            <a:ext cx="5444131" cy="238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>
            <a:lvl1pPr marL="230188" indent="-230188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3177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Arial" charset="0"/>
              <a:buChar char="-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5525" indent="-222250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Char char="•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3pPr>
            <a:lvl4pPr marL="1376363" indent="-23177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©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4pPr>
            <a:lvl5pPr marL="17176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5pPr>
            <a:lvl6pPr marL="21748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6pPr>
            <a:lvl7pPr marL="26320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7pPr>
            <a:lvl8pPr marL="30892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8pPr>
            <a:lvl9pPr marL="35464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计算机类本科生授课内容</a:t>
            </a:r>
            <a:endParaRPr lang="en-US" altLang="zh-CN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黑体" pitchFamily="49" charset="-122"/>
              <a:ea typeface="宋体" pitchFamily="2" charset="-122"/>
            </a:endParaRPr>
          </a:p>
        </p:txBody>
      </p:sp>
      <p:sp>
        <p:nvSpPr>
          <p:cNvPr id="12" name="副标题 1"/>
          <p:cNvSpPr txBox="1">
            <a:spLocks/>
          </p:cNvSpPr>
          <p:nvPr/>
        </p:nvSpPr>
        <p:spPr>
          <a:xfrm>
            <a:off x="3765976" y="3382474"/>
            <a:ext cx="3965433" cy="477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>
            <a:lvl1pPr marL="230188" indent="-230188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3177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Arial" charset="0"/>
              <a:buChar char="-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5525" indent="-222250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Char char="•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3pPr>
            <a:lvl4pPr marL="1376363" indent="-23177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©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4pPr>
            <a:lvl5pPr marL="17176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5pPr>
            <a:lvl6pPr marL="21748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6pPr>
            <a:lvl7pPr marL="26320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7pPr>
            <a:lvl8pPr marL="30892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8pPr>
            <a:lvl9pPr marL="3546475" indent="-174625" algn="l" rtl="0" eaLnBrk="0" fontAlgn="base" hangingPunct="0">
              <a:lnSpc>
                <a:spcPct val="97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itchFamily="34" charset="0"/>
                <a:ea typeface="+mn-ea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联系方式：</a:t>
            </a:r>
            <a:r>
              <a:rPr lang="en-US" altLang="zh-CN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QQ</a:t>
            </a:r>
            <a:r>
              <a:rPr lang="zh-CN" altLang="en-US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群：</a:t>
            </a:r>
            <a:r>
              <a:rPr lang="en-US" altLang="zh-CN" dirty="0"/>
              <a:t>828546706</a:t>
            </a:r>
            <a:r>
              <a:rPr lang="en-US" altLang="zh-CN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       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          教三楼</a:t>
            </a:r>
            <a:r>
              <a:rPr lang="en-US" altLang="zh-CN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itchFamily="49" charset="-122"/>
                <a:ea typeface="宋体" pitchFamily="2" charset="-122"/>
              </a:rPr>
              <a:t>626</a:t>
            </a:r>
          </a:p>
        </p:txBody>
      </p:sp>
      <p:pic>
        <p:nvPicPr>
          <p:cNvPr id="13" name="Picture 5" descr="GeForce_8800_GTx_3qtr">
            <a:extLst>
              <a:ext uri="{FF2B5EF4-FFF2-40B4-BE49-F238E27FC236}">
                <a16:creationId xmlns:a16="http://schemas.microsoft.com/office/drawing/2014/main" id="{AE6EBE99-7295-43D7-A1AC-BD16B8C00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44" y="4229235"/>
            <a:ext cx="3614732" cy="2250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9F2A0925-BD0B-45B2-8637-F6C6B3A0C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657" y="4170581"/>
            <a:ext cx="3132634" cy="22051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43BA2BE2-3273-405C-8106-C5E6DB17E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754" y="4417966"/>
            <a:ext cx="2486267" cy="19469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700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38725"/>
    </mc:Choice>
    <mc:Fallback xmlns="">
      <p:transition spd="slow" advTm="1387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0600" y="593811"/>
            <a:ext cx="11925795" cy="59708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dirty="0"/>
              <a:t>期末</a:t>
            </a:r>
            <a:r>
              <a:rPr lang="en-US" altLang="zh-CN" dirty="0"/>
              <a:t>---</a:t>
            </a:r>
            <a:r>
              <a:rPr lang="zh-CN" altLang="en-US" dirty="0"/>
              <a:t>类型</a:t>
            </a:r>
            <a:r>
              <a:rPr lang="en-US" altLang="zh-CN" dirty="0"/>
              <a:t>1</a:t>
            </a:r>
            <a:r>
              <a:rPr lang="zh-CN" altLang="en-US" dirty="0"/>
              <a:t>：系数</a:t>
            </a:r>
            <a:r>
              <a:rPr lang="en-US" altLang="zh-CN" dirty="0"/>
              <a:t>0.95</a:t>
            </a:r>
            <a:r>
              <a:rPr lang="zh-CN" altLang="en-US" dirty="0"/>
              <a:t>，代码分析及优化实践</a:t>
            </a:r>
          </a:p>
        </p:txBody>
      </p:sp>
      <p:sp>
        <p:nvSpPr>
          <p:cNvPr id="3" name="标题 3">
            <a:extLst>
              <a:ext uri="{FF2B5EF4-FFF2-40B4-BE49-F238E27FC236}">
                <a16:creationId xmlns:a16="http://schemas.microsoft.com/office/drawing/2014/main" id="{1214A22D-F60A-4D16-B5F3-0620252E2109}"/>
              </a:ext>
            </a:extLst>
          </p:cNvPr>
          <p:cNvSpPr txBox="1">
            <a:spLocks/>
          </p:cNvSpPr>
          <p:nvPr/>
        </p:nvSpPr>
        <p:spPr bwMode="auto">
          <a:xfrm>
            <a:off x="96800" y="1448868"/>
            <a:ext cx="11700779" cy="59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571500" indent="-571500" defTabSz="914400">
              <a:buSzTx/>
              <a:buFont typeface="Arial" panose="020B0604020202020204" pitchFamily="34" charset="0"/>
              <a:buChar char="•"/>
            </a:pPr>
            <a:r>
              <a:rPr lang="zh-CN" altLang="en-US" kern="0" dirty="0"/>
              <a:t>期末</a:t>
            </a:r>
            <a:r>
              <a:rPr lang="en-US" altLang="zh-CN" kern="0" dirty="0"/>
              <a:t>---</a:t>
            </a:r>
            <a:r>
              <a:rPr lang="zh-CN" altLang="en-US" kern="0" dirty="0"/>
              <a:t>类型</a:t>
            </a:r>
            <a:r>
              <a:rPr lang="en-US" altLang="zh-CN" kern="0" dirty="0"/>
              <a:t>2</a:t>
            </a:r>
            <a:r>
              <a:rPr lang="zh-CN" altLang="en-US" kern="0" dirty="0"/>
              <a:t>：</a:t>
            </a:r>
            <a:r>
              <a:rPr lang="zh-CN" altLang="en-US" dirty="0"/>
              <a:t>系数</a:t>
            </a:r>
            <a:r>
              <a:rPr lang="en-US" altLang="zh-CN" dirty="0"/>
              <a:t>1.0</a:t>
            </a:r>
            <a:r>
              <a:rPr lang="zh-CN" altLang="en-US" dirty="0"/>
              <a:t>，</a:t>
            </a:r>
            <a:r>
              <a:rPr lang="zh-CN" altLang="en-US" kern="0" dirty="0"/>
              <a:t>代码分析及编程实践</a:t>
            </a:r>
          </a:p>
        </p:txBody>
      </p:sp>
      <p:sp>
        <p:nvSpPr>
          <p:cNvPr id="5" name="标题 3">
            <a:extLst>
              <a:ext uri="{FF2B5EF4-FFF2-40B4-BE49-F238E27FC236}">
                <a16:creationId xmlns:a16="http://schemas.microsoft.com/office/drawing/2014/main" id="{BB5B48CF-3E8D-4CBB-A399-88D33F7E14C3}"/>
              </a:ext>
            </a:extLst>
          </p:cNvPr>
          <p:cNvSpPr txBox="1">
            <a:spLocks/>
          </p:cNvSpPr>
          <p:nvPr/>
        </p:nvSpPr>
        <p:spPr bwMode="auto">
          <a:xfrm>
            <a:off x="85698" y="2303925"/>
            <a:ext cx="11925795" cy="59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571500" indent="-571500" defTabSz="914400">
              <a:buSzTx/>
              <a:buFont typeface="Arial" panose="020B0604020202020204" pitchFamily="34" charset="0"/>
              <a:buChar char="•"/>
            </a:pPr>
            <a:r>
              <a:rPr lang="zh-CN" altLang="en-US" kern="0" dirty="0"/>
              <a:t>期末</a:t>
            </a:r>
            <a:r>
              <a:rPr lang="en-US" altLang="zh-CN" kern="0" dirty="0"/>
              <a:t>---</a:t>
            </a:r>
            <a:r>
              <a:rPr lang="zh-CN" altLang="en-US" kern="0" dirty="0"/>
              <a:t>类型</a:t>
            </a:r>
            <a:r>
              <a:rPr lang="en-US" altLang="zh-CN" kern="0" dirty="0"/>
              <a:t>3</a:t>
            </a:r>
            <a:r>
              <a:rPr lang="zh-CN" altLang="en-US" kern="0" dirty="0"/>
              <a:t>：</a:t>
            </a:r>
            <a:r>
              <a:rPr lang="zh-CN" altLang="en-US" dirty="0"/>
              <a:t>系数</a:t>
            </a:r>
            <a:r>
              <a:rPr lang="en-US" altLang="zh-CN" dirty="0"/>
              <a:t>1.2</a:t>
            </a:r>
            <a:r>
              <a:rPr lang="zh-CN" altLang="en-US" dirty="0"/>
              <a:t>，</a:t>
            </a:r>
            <a:r>
              <a:rPr lang="zh-CN" altLang="en-US" kern="0" dirty="0"/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362737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646"/>
    </mc:Choice>
    <mc:Fallback xmlns="">
      <p:transition spd="slow" advTm="15664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77" y="1223853"/>
            <a:ext cx="11925794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>
                <a:solidFill>
                  <a:srgbClr val="FF0000"/>
                </a:solidFill>
              </a:rPr>
              <a:t> GPU Lossy Compression for HPC Can Be Versatile and Ultra-Fast</a:t>
            </a: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）翻译论文，</a:t>
            </a:r>
            <a:r>
              <a:rPr lang="en-US" altLang="zh-CN" sz="2400" dirty="0"/>
              <a:t> GPU Lossy Compression for HPC Can Be Versatile and Ultra-Fast </a:t>
            </a:r>
            <a:r>
              <a:rPr lang="zh-CN" altLang="en-US" sz="2400" dirty="0"/>
              <a:t>，整理排版成</a:t>
            </a:r>
            <a:r>
              <a:rPr lang="zh-CN" altLang="en-US" sz="2400" dirty="0">
                <a:solidFill>
                  <a:srgbClr val="FF0000"/>
                </a:solidFill>
              </a:rPr>
              <a:t>单栏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zh-CN" altLang="en-US" sz="2400" dirty="0">
                <a:solidFill>
                  <a:srgbClr val="FF0000"/>
                </a:solidFill>
              </a:rPr>
              <a:t>文档</a:t>
            </a:r>
            <a:r>
              <a:rPr lang="zh-CN" altLang="en-US" sz="2400" dirty="0"/>
              <a:t>格式，格式清晰。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）编译、运行和重现论文的实验，网址</a:t>
            </a:r>
            <a:r>
              <a:rPr lang="en-US" altLang="zh-CN" sz="2400" dirty="0"/>
              <a:t>https://github.com/szcompressor/cuSZp</a:t>
            </a:r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）结合论文和代码，深入分析算法的原理和实现，阐述可改进思路。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D5EBDEF5-126E-4FCF-89F3-33B0D41C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2" y="593381"/>
            <a:ext cx="11925795" cy="41793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/>
              <a:t>期末</a:t>
            </a:r>
            <a:r>
              <a:rPr lang="en-US" altLang="zh-CN" sz="2800" dirty="0"/>
              <a:t>---</a:t>
            </a:r>
            <a:r>
              <a:rPr lang="zh-CN" altLang="en-US" sz="2800" dirty="0"/>
              <a:t>类型</a:t>
            </a:r>
            <a:r>
              <a:rPr lang="en-US" altLang="zh-CN" sz="2800" dirty="0"/>
              <a:t>1</a:t>
            </a:r>
            <a:r>
              <a:rPr lang="zh-CN" altLang="en-US" sz="2800" dirty="0"/>
              <a:t>：系数</a:t>
            </a:r>
            <a:r>
              <a:rPr lang="en-US" altLang="zh-CN" sz="2800" dirty="0"/>
              <a:t>0.95</a:t>
            </a:r>
            <a:r>
              <a:rPr lang="zh-CN" altLang="en-US" sz="2800" dirty="0"/>
              <a:t>，代码分析及优化实践</a:t>
            </a:r>
          </a:p>
        </p:txBody>
      </p:sp>
    </p:spTree>
    <p:extLst>
      <p:ext uri="{BB962C8B-B14F-4D97-AF65-F5344CB8AC3E}">
        <p14:creationId xmlns:p14="http://schemas.microsoft.com/office/powerpoint/2010/main" val="235342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77" y="1223853"/>
            <a:ext cx="11925794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2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>
                <a:solidFill>
                  <a:srgbClr val="FF0000"/>
                </a:solidFill>
              </a:rPr>
              <a:t> Instant Neural Graphics Primitives with a Multiresolution Hash Encoding</a:t>
            </a: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）翻译论文，</a:t>
            </a:r>
            <a:r>
              <a:rPr lang="en-US" altLang="zh-CN" sz="2400" dirty="0"/>
              <a:t> Instant Neural Graphics Primitives with a Multiresolution Hash Encoding</a:t>
            </a:r>
            <a:r>
              <a:rPr lang="zh-CN" altLang="en-US" sz="2400" dirty="0"/>
              <a:t>，整理排版成</a:t>
            </a:r>
            <a:r>
              <a:rPr lang="zh-CN" altLang="en-US" sz="2400" dirty="0">
                <a:solidFill>
                  <a:srgbClr val="FF0000"/>
                </a:solidFill>
              </a:rPr>
              <a:t>单栏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zh-CN" altLang="en-US" sz="2400" dirty="0">
                <a:solidFill>
                  <a:srgbClr val="FF0000"/>
                </a:solidFill>
              </a:rPr>
              <a:t>文档</a:t>
            </a:r>
            <a:r>
              <a:rPr lang="zh-CN" altLang="en-US" sz="2400" dirty="0"/>
              <a:t>格式，格式清晰。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）编译、运行代码实验，网址</a:t>
            </a:r>
            <a:r>
              <a:rPr lang="en-US" altLang="zh-CN" sz="2400" dirty="0"/>
              <a:t>https://github.com/NVlabs/instant-ngp</a:t>
            </a:r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）详细分析代码结构和实现细节，结合对算法的原理的理解进行分析，阐述可改进思路。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D5EBDEF5-126E-4FCF-89F3-33B0D41C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2" y="593381"/>
            <a:ext cx="11925795" cy="41793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/>
              <a:t>期末</a:t>
            </a:r>
            <a:r>
              <a:rPr lang="en-US" altLang="zh-CN" sz="2800" dirty="0"/>
              <a:t>---</a:t>
            </a:r>
            <a:r>
              <a:rPr lang="zh-CN" altLang="en-US" sz="2800" dirty="0"/>
              <a:t>类型</a:t>
            </a:r>
            <a:r>
              <a:rPr lang="en-US" altLang="zh-CN" sz="2800" dirty="0"/>
              <a:t>1</a:t>
            </a:r>
            <a:r>
              <a:rPr lang="zh-CN" altLang="en-US" sz="2800" dirty="0"/>
              <a:t>：系数</a:t>
            </a:r>
            <a:r>
              <a:rPr lang="en-US" altLang="zh-CN" sz="2800" dirty="0"/>
              <a:t>0.95</a:t>
            </a:r>
            <a:r>
              <a:rPr lang="zh-CN" altLang="en-US" sz="2800" dirty="0"/>
              <a:t>，代码分析及优化实践</a:t>
            </a:r>
          </a:p>
        </p:txBody>
      </p:sp>
    </p:spTree>
    <p:extLst>
      <p:ext uri="{BB962C8B-B14F-4D97-AF65-F5344CB8AC3E}">
        <p14:creationId xmlns:p14="http://schemas.microsoft.com/office/powerpoint/2010/main" val="318906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77" y="1223853"/>
            <a:ext cx="11925794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3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 err="1">
                <a:solidFill>
                  <a:srgbClr val="FF0000"/>
                </a:solidFill>
              </a:rPr>
              <a:t>MaxK</a:t>
            </a:r>
            <a:r>
              <a:rPr lang="en-US" altLang="zh-CN" sz="3200" dirty="0">
                <a:solidFill>
                  <a:srgbClr val="FF0000"/>
                </a:solidFill>
              </a:rPr>
              <a:t>-GNN: Extremely Fast GPU Kernel Design for Accelerating Graph Neural Networks Training</a:t>
            </a: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）翻译论文，</a:t>
            </a:r>
            <a:r>
              <a:rPr lang="en-US" altLang="zh-CN" sz="2400" dirty="0"/>
              <a:t> </a:t>
            </a:r>
            <a:r>
              <a:rPr lang="en-US" altLang="zh-CN" sz="2400" dirty="0" err="1"/>
              <a:t>MaxK</a:t>
            </a:r>
            <a:r>
              <a:rPr lang="en-US" altLang="zh-CN" sz="2400" dirty="0"/>
              <a:t>-GNN: Extremely Fast GPU Kernel Design for Accelerating Graph Neural Networks Training</a:t>
            </a:r>
            <a:r>
              <a:rPr lang="zh-CN" altLang="en-US" sz="2400" dirty="0"/>
              <a:t>，整理排版成</a:t>
            </a:r>
            <a:r>
              <a:rPr lang="zh-CN" altLang="en-US" sz="2400" dirty="0">
                <a:solidFill>
                  <a:srgbClr val="FF0000"/>
                </a:solidFill>
              </a:rPr>
              <a:t>单栏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zh-CN" altLang="en-US" sz="2400" dirty="0">
                <a:solidFill>
                  <a:srgbClr val="FF0000"/>
                </a:solidFill>
              </a:rPr>
              <a:t>文档</a:t>
            </a:r>
            <a:r>
              <a:rPr lang="zh-CN" altLang="en-US" sz="2400" dirty="0"/>
              <a:t>格式，格式清晰。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）编译、运行代码实验，网址</a:t>
            </a:r>
            <a:r>
              <a:rPr lang="en-US" altLang="zh-CN" sz="2400" dirty="0"/>
              <a:t>https://github.com/xiexi51/MaxK-GNN</a:t>
            </a:r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）详细分析代码，结合对算法的原理的理解进行分析 ，阐述可改进思路。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D5EBDEF5-126E-4FCF-89F3-33B0D41C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2" y="593381"/>
            <a:ext cx="11925795" cy="41793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/>
              <a:t>期末</a:t>
            </a:r>
            <a:r>
              <a:rPr lang="en-US" altLang="zh-CN" sz="2800" dirty="0"/>
              <a:t>---</a:t>
            </a:r>
            <a:r>
              <a:rPr lang="zh-CN" altLang="en-US" sz="2800" dirty="0"/>
              <a:t>类型</a:t>
            </a:r>
            <a:r>
              <a:rPr lang="en-US" altLang="zh-CN" sz="2800" dirty="0"/>
              <a:t>1</a:t>
            </a:r>
            <a:r>
              <a:rPr lang="zh-CN" altLang="en-US" sz="2800" dirty="0"/>
              <a:t>：系数</a:t>
            </a:r>
            <a:r>
              <a:rPr lang="en-US" altLang="zh-CN" sz="2800" dirty="0"/>
              <a:t>0.95</a:t>
            </a:r>
            <a:r>
              <a:rPr lang="zh-CN" altLang="en-US" sz="2800" dirty="0"/>
              <a:t>，代码分析及优化实践</a:t>
            </a:r>
          </a:p>
        </p:txBody>
      </p:sp>
    </p:spTree>
    <p:extLst>
      <p:ext uri="{BB962C8B-B14F-4D97-AF65-F5344CB8AC3E}">
        <p14:creationId xmlns:p14="http://schemas.microsoft.com/office/powerpoint/2010/main" val="375549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77" y="1223853"/>
            <a:ext cx="11925794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4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>
                <a:solidFill>
                  <a:srgbClr val="FF0000"/>
                </a:solidFill>
              </a:rPr>
              <a:t> RSC: Accelerate Graph Neural Networks Training via Randomized Sparse Computations</a:t>
            </a: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）翻译论文，</a:t>
            </a:r>
            <a:r>
              <a:rPr lang="en-US" altLang="zh-CN" sz="2400" dirty="0"/>
              <a:t> RSC: Accelerate Graph Neural Networks Training via Randomized Sparse Computations</a:t>
            </a:r>
            <a:r>
              <a:rPr lang="zh-CN" altLang="en-US" sz="2400" dirty="0"/>
              <a:t>，整理排版成</a:t>
            </a:r>
            <a:r>
              <a:rPr lang="zh-CN" altLang="en-US" sz="2400" dirty="0">
                <a:solidFill>
                  <a:srgbClr val="FF0000"/>
                </a:solidFill>
              </a:rPr>
              <a:t>单栏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zh-CN" altLang="en-US" sz="2400" dirty="0">
                <a:solidFill>
                  <a:srgbClr val="FF0000"/>
                </a:solidFill>
              </a:rPr>
              <a:t>文档</a:t>
            </a:r>
            <a:r>
              <a:rPr lang="zh-CN" altLang="en-US" sz="2400" dirty="0"/>
              <a:t>格式，格式清晰。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）编译、运行代码实验，网址</a:t>
            </a:r>
            <a:r>
              <a:rPr lang="en-US" altLang="zh-CN" sz="2400" dirty="0"/>
              <a:t>https://github.com/zirui-ray-liu/RSC-ICML</a:t>
            </a:r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）详细分析代码，结合对算法的原理的理解进行分析 ，阐述可改进思路。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D5EBDEF5-126E-4FCF-89F3-33B0D41C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2" y="593381"/>
            <a:ext cx="11925795" cy="41793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2800" dirty="0"/>
              <a:t>期末</a:t>
            </a:r>
            <a:r>
              <a:rPr lang="en-US" altLang="zh-CN" sz="2800" dirty="0"/>
              <a:t>---</a:t>
            </a:r>
            <a:r>
              <a:rPr lang="zh-CN" altLang="en-US" sz="2800" dirty="0"/>
              <a:t>类型</a:t>
            </a:r>
            <a:r>
              <a:rPr lang="en-US" altLang="zh-CN" sz="2800" dirty="0"/>
              <a:t>1</a:t>
            </a:r>
            <a:r>
              <a:rPr lang="zh-CN" altLang="en-US" sz="2800" dirty="0"/>
              <a:t>：系数</a:t>
            </a:r>
            <a:r>
              <a:rPr lang="en-US" altLang="zh-CN" sz="2800" dirty="0"/>
              <a:t>0.95</a:t>
            </a:r>
            <a:r>
              <a:rPr lang="zh-CN" altLang="en-US" sz="2800" dirty="0"/>
              <a:t>，代码分析及优化实践</a:t>
            </a:r>
          </a:p>
        </p:txBody>
      </p:sp>
    </p:spTree>
    <p:extLst>
      <p:ext uri="{BB962C8B-B14F-4D97-AF65-F5344CB8AC3E}">
        <p14:creationId xmlns:p14="http://schemas.microsoft.com/office/powerpoint/2010/main" val="117314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3" y="1043841"/>
            <a:ext cx="12001646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5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>
                <a:solidFill>
                  <a:srgbClr val="FF0000"/>
                </a:solidFill>
              </a:rPr>
              <a:t> Editing Compact Voxel Representations on the GPU</a:t>
            </a: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）翻译论文，</a:t>
            </a:r>
            <a:r>
              <a:rPr lang="en-US" altLang="zh-CN" sz="2400" dirty="0"/>
              <a:t> Editing Compact Voxel Representations on the GPU</a:t>
            </a:r>
            <a:r>
              <a:rPr lang="zh-CN" altLang="en-US" sz="2400" dirty="0"/>
              <a:t>，整理排版成</a:t>
            </a:r>
            <a:r>
              <a:rPr lang="zh-CN" altLang="en-US" sz="2400" dirty="0">
                <a:solidFill>
                  <a:srgbClr val="FF0000"/>
                </a:solidFill>
              </a:rPr>
              <a:t>单栏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zh-CN" altLang="en-US" sz="2400" dirty="0">
                <a:solidFill>
                  <a:srgbClr val="FF0000"/>
                </a:solidFill>
              </a:rPr>
              <a:t>文档</a:t>
            </a:r>
            <a:r>
              <a:rPr lang="zh-CN" altLang="en-US" sz="2400" dirty="0"/>
              <a:t>格式，格式清晰。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）编译、运行代码实验，网址</a:t>
            </a:r>
            <a:r>
              <a:rPr lang="en-US" altLang="zh-CN" sz="2400" dirty="0"/>
              <a:t>https://github.com/mathijs727/GPU-SVDAG-Editing</a:t>
            </a:r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）详细分析代码，结合对论文算法的理解进行分析 ，阐述可改进思路。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  <a:p>
            <a:pPr lvl="2"/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E27B2CB3-C85E-4EE8-99E1-30B765D0951F}"/>
              </a:ext>
            </a:extLst>
          </p:cNvPr>
          <p:cNvSpPr txBox="1">
            <a:spLocks/>
          </p:cNvSpPr>
          <p:nvPr/>
        </p:nvSpPr>
        <p:spPr bwMode="auto">
          <a:xfrm>
            <a:off x="65598" y="503805"/>
            <a:ext cx="11700779" cy="41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571500" indent="-571500" defTabSz="914400">
              <a:buSzTx/>
              <a:buFont typeface="Arial" panose="020B0604020202020204" pitchFamily="34" charset="0"/>
              <a:buChar char="•"/>
            </a:pPr>
            <a:r>
              <a:rPr lang="zh-CN" altLang="en-US" sz="2800" kern="0" dirty="0"/>
              <a:t>期末</a:t>
            </a:r>
            <a:r>
              <a:rPr lang="en-US" altLang="zh-CN" sz="2800" kern="0" dirty="0"/>
              <a:t>---</a:t>
            </a:r>
            <a:r>
              <a:rPr lang="zh-CN" altLang="en-US" sz="2800" kern="0" dirty="0"/>
              <a:t>类型</a:t>
            </a:r>
            <a:r>
              <a:rPr lang="en-US" altLang="zh-CN" sz="2800" kern="0" dirty="0"/>
              <a:t>2</a:t>
            </a:r>
            <a:r>
              <a:rPr lang="zh-CN" altLang="en-US" sz="2800" kern="0" dirty="0"/>
              <a:t>：</a:t>
            </a:r>
            <a:r>
              <a:rPr lang="zh-CN" altLang="en-US" sz="2800" dirty="0"/>
              <a:t>系数</a:t>
            </a:r>
            <a:r>
              <a:rPr lang="en-US" altLang="zh-CN" sz="2800" dirty="0"/>
              <a:t>1.0</a:t>
            </a:r>
            <a:r>
              <a:rPr lang="zh-CN" altLang="en-US" sz="2800" dirty="0"/>
              <a:t>， </a:t>
            </a:r>
            <a:r>
              <a:rPr lang="zh-CN" altLang="en-US" sz="2800" kern="0" dirty="0"/>
              <a:t>代码分析及编程实践</a:t>
            </a:r>
          </a:p>
        </p:txBody>
      </p:sp>
    </p:spTree>
    <p:extLst>
      <p:ext uri="{BB962C8B-B14F-4D97-AF65-F5344CB8AC3E}">
        <p14:creationId xmlns:p14="http://schemas.microsoft.com/office/powerpoint/2010/main" val="377131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3" y="1043841"/>
            <a:ext cx="12001646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6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>
                <a:solidFill>
                  <a:srgbClr val="FF0000"/>
                </a:solidFill>
              </a:rPr>
              <a:t> GPU-accelerated generation and rendering of multi-level voxel representations of solid models</a:t>
            </a: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）翻译论文，</a:t>
            </a:r>
            <a:r>
              <a:rPr lang="en-US" altLang="zh-CN" sz="2400" dirty="0"/>
              <a:t> GPU-accelerated generation and rendering of multi-level voxel representations of solid models</a:t>
            </a:r>
            <a:r>
              <a:rPr lang="zh-CN" altLang="en-US" sz="2400" dirty="0"/>
              <a:t>，整理排版成</a:t>
            </a:r>
            <a:r>
              <a:rPr lang="zh-CN" altLang="en-US" sz="2400" dirty="0">
                <a:solidFill>
                  <a:srgbClr val="FF0000"/>
                </a:solidFill>
              </a:rPr>
              <a:t>单栏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zh-CN" altLang="en-US" sz="2400" dirty="0">
                <a:solidFill>
                  <a:srgbClr val="FF0000"/>
                </a:solidFill>
              </a:rPr>
              <a:t>文档</a:t>
            </a:r>
            <a:r>
              <a:rPr lang="zh-CN" altLang="en-US" sz="2400" dirty="0"/>
              <a:t>格式，格式清晰。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）编译、运行代码实验，网址</a:t>
            </a:r>
            <a:r>
              <a:rPr lang="en-US" altLang="zh-CN" sz="2400" dirty="0"/>
              <a:t>https://github.com/idealab-isu/GPView</a:t>
            </a:r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）详细分析代码，结合对论文算法的理解进行分析 ，阐述可改进思路。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  <a:p>
            <a:pPr lvl="2"/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E27B2CB3-C85E-4EE8-99E1-30B765D0951F}"/>
              </a:ext>
            </a:extLst>
          </p:cNvPr>
          <p:cNvSpPr txBox="1">
            <a:spLocks/>
          </p:cNvSpPr>
          <p:nvPr/>
        </p:nvSpPr>
        <p:spPr bwMode="auto">
          <a:xfrm>
            <a:off x="65598" y="503805"/>
            <a:ext cx="11700779" cy="41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571500" indent="-571500" defTabSz="914400">
              <a:buSzTx/>
              <a:buFont typeface="Arial" panose="020B0604020202020204" pitchFamily="34" charset="0"/>
              <a:buChar char="•"/>
            </a:pPr>
            <a:r>
              <a:rPr lang="zh-CN" altLang="en-US" sz="2800" kern="0" dirty="0"/>
              <a:t>期末</a:t>
            </a:r>
            <a:r>
              <a:rPr lang="en-US" altLang="zh-CN" sz="2800" kern="0" dirty="0"/>
              <a:t>---</a:t>
            </a:r>
            <a:r>
              <a:rPr lang="zh-CN" altLang="en-US" sz="2800" kern="0" dirty="0"/>
              <a:t>类型</a:t>
            </a:r>
            <a:r>
              <a:rPr lang="en-US" altLang="zh-CN" sz="2800" kern="0" dirty="0"/>
              <a:t>2</a:t>
            </a:r>
            <a:r>
              <a:rPr lang="zh-CN" altLang="en-US" sz="2800" kern="0" dirty="0"/>
              <a:t>：</a:t>
            </a:r>
            <a:r>
              <a:rPr lang="zh-CN" altLang="en-US" sz="2800" dirty="0"/>
              <a:t>系数</a:t>
            </a:r>
            <a:r>
              <a:rPr lang="en-US" altLang="zh-CN" sz="2800" dirty="0"/>
              <a:t>1.0</a:t>
            </a:r>
            <a:r>
              <a:rPr lang="zh-CN" altLang="en-US" sz="2800" dirty="0"/>
              <a:t>， </a:t>
            </a:r>
            <a:r>
              <a:rPr lang="zh-CN" altLang="en-US" sz="2800" kern="0" dirty="0"/>
              <a:t>代码分析及编程实践</a:t>
            </a:r>
          </a:p>
        </p:txBody>
      </p:sp>
    </p:spTree>
    <p:extLst>
      <p:ext uri="{BB962C8B-B14F-4D97-AF65-F5344CB8AC3E}">
        <p14:creationId xmlns:p14="http://schemas.microsoft.com/office/powerpoint/2010/main" val="151453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3" y="1043841"/>
            <a:ext cx="12001646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7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Sinkhorn</a:t>
            </a:r>
            <a:r>
              <a:rPr lang="zh-CN" altLang="en-US" sz="3200" dirty="0">
                <a:solidFill>
                  <a:srgbClr val="FF0000"/>
                </a:solidFill>
              </a:rPr>
              <a:t>距离和</a:t>
            </a:r>
            <a:r>
              <a:rPr lang="en-US" altLang="zh-CN" sz="3200" dirty="0">
                <a:solidFill>
                  <a:srgbClr val="FF0000"/>
                </a:solidFill>
              </a:rPr>
              <a:t>Sinkhorn-</a:t>
            </a:r>
            <a:r>
              <a:rPr lang="en-US" altLang="zh-CN" sz="3200" dirty="0" err="1">
                <a:solidFill>
                  <a:srgbClr val="FF0000"/>
                </a:solidFill>
              </a:rPr>
              <a:t>Knopp</a:t>
            </a:r>
            <a:r>
              <a:rPr lang="zh-CN" altLang="en-US" sz="3200" dirty="0">
                <a:solidFill>
                  <a:srgbClr val="FF0000"/>
                </a:solidFill>
              </a:rPr>
              <a:t>算法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）调研</a:t>
            </a:r>
            <a:r>
              <a:rPr lang="en-US" altLang="zh-CN" sz="2400" dirty="0"/>
              <a:t>Sinkhorn</a:t>
            </a:r>
            <a:r>
              <a:rPr lang="zh-CN" altLang="en-US" sz="2400" dirty="0"/>
              <a:t>距离和</a:t>
            </a:r>
            <a:r>
              <a:rPr lang="en-US" altLang="zh-CN" sz="2400" dirty="0"/>
              <a:t>Sinkhorn-</a:t>
            </a:r>
            <a:r>
              <a:rPr lang="en-US" altLang="zh-CN" sz="2400" dirty="0" err="1"/>
              <a:t>Knopp</a:t>
            </a:r>
            <a:r>
              <a:rPr lang="zh-CN" altLang="en-US" sz="2400" dirty="0"/>
              <a:t>算法，阐述其算法原理。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）编译、运行、分析代码和重现其昇腾算子，网址</a:t>
            </a:r>
            <a:r>
              <a:rPr lang="en-US" altLang="zh-CN" sz="2400" dirty="0"/>
              <a:t>https://gitcode.com/cann/ops-math/tree/master/math/sinkhorn</a:t>
            </a:r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）在现有的这个开源工程环境下，增加其图模式的代码（</a:t>
            </a:r>
            <a:r>
              <a:rPr lang="en-US" altLang="zh-CN" sz="2400" dirty="0" err="1"/>
              <a:t>op_graph</a:t>
            </a:r>
            <a:r>
              <a:rPr lang="zh-CN" altLang="en-US" sz="2400" dirty="0"/>
              <a:t>）及调用例子（</a:t>
            </a:r>
            <a:r>
              <a:rPr lang="en-US" altLang="zh-CN" sz="2400" dirty="0"/>
              <a:t>example</a:t>
            </a:r>
            <a:r>
              <a:rPr lang="zh-CN" altLang="en-US" sz="2400" dirty="0"/>
              <a:t>目录下，目前仅有</a:t>
            </a:r>
            <a:r>
              <a:rPr lang="en-US" altLang="zh-CN" sz="2400" dirty="0" err="1"/>
              <a:t>aclnn</a:t>
            </a:r>
            <a:r>
              <a:rPr lang="zh-CN" altLang="en-US" sz="2400" dirty="0"/>
              <a:t>调用方法），阐述详细的实现过程并完成开发测试。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E27B2CB3-C85E-4EE8-99E1-30B765D0951F}"/>
              </a:ext>
            </a:extLst>
          </p:cNvPr>
          <p:cNvSpPr txBox="1">
            <a:spLocks/>
          </p:cNvSpPr>
          <p:nvPr/>
        </p:nvSpPr>
        <p:spPr bwMode="auto">
          <a:xfrm>
            <a:off x="65598" y="503805"/>
            <a:ext cx="11700779" cy="41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571500" indent="-571500" defTabSz="914400">
              <a:buSzTx/>
              <a:buFont typeface="Arial" panose="020B0604020202020204" pitchFamily="34" charset="0"/>
              <a:buChar char="•"/>
            </a:pPr>
            <a:r>
              <a:rPr lang="zh-CN" altLang="en-US" sz="2800" kern="0" dirty="0"/>
              <a:t>期末</a:t>
            </a:r>
            <a:r>
              <a:rPr lang="en-US" altLang="zh-CN" sz="2800" kern="0" dirty="0"/>
              <a:t>---</a:t>
            </a:r>
            <a:r>
              <a:rPr lang="zh-CN" altLang="en-US" sz="2800" kern="0" dirty="0"/>
              <a:t>类型</a:t>
            </a:r>
            <a:r>
              <a:rPr lang="en-US" altLang="zh-CN" sz="2800" kern="0" dirty="0"/>
              <a:t>2</a:t>
            </a:r>
            <a:r>
              <a:rPr lang="zh-CN" altLang="en-US" sz="2800" kern="0" dirty="0"/>
              <a:t>：</a:t>
            </a:r>
            <a:r>
              <a:rPr lang="zh-CN" altLang="en-US" sz="2800" dirty="0"/>
              <a:t>系数</a:t>
            </a:r>
            <a:r>
              <a:rPr lang="en-US" altLang="zh-CN" sz="2800" dirty="0"/>
              <a:t>1.0</a:t>
            </a:r>
            <a:r>
              <a:rPr lang="zh-CN" altLang="en-US" sz="2800" dirty="0"/>
              <a:t>， </a:t>
            </a:r>
            <a:r>
              <a:rPr lang="zh-CN" altLang="en-US" sz="2800" kern="0" dirty="0"/>
              <a:t>代码分析及编程实践</a:t>
            </a:r>
          </a:p>
        </p:txBody>
      </p:sp>
    </p:spTree>
    <p:extLst>
      <p:ext uri="{BB962C8B-B14F-4D97-AF65-F5344CB8AC3E}">
        <p14:creationId xmlns:p14="http://schemas.microsoft.com/office/powerpoint/2010/main" val="24532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3" y="1043841"/>
            <a:ext cx="12001646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8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Parallel Computation of 3D Morse-Smale Complexes</a:t>
            </a: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）翻译论文</a:t>
            </a:r>
            <a:r>
              <a:rPr lang="en-US" altLang="zh-CN" sz="2400" dirty="0"/>
              <a:t>Parallel Computation of 3D Morse-Smale Complexes</a:t>
            </a:r>
            <a:r>
              <a:rPr lang="zh-CN" altLang="en-US" sz="2400" dirty="0"/>
              <a:t>，整理排版成</a:t>
            </a:r>
            <a:r>
              <a:rPr lang="zh-CN" altLang="en-US" sz="2400" dirty="0">
                <a:solidFill>
                  <a:srgbClr val="FF0000"/>
                </a:solidFill>
              </a:rPr>
              <a:t>单栏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zh-CN" altLang="en-US" sz="2400" dirty="0">
                <a:solidFill>
                  <a:srgbClr val="FF0000"/>
                </a:solidFill>
              </a:rPr>
              <a:t>文档</a:t>
            </a:r>
            <a:r>
              <a:rPr lang="zh-CN" altLang="en-US" sz="2400" dirty="0"/>
              <a:t>格式，格式清晰。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）编译、运行代码实验，网址</a:t>
            </a:r>
            <a:r>
              <a:rPr lang="en-US" altLang="zh-CN" sz="2400" dirty="0"/>
              <a:t>https://github.com/vgl-iisc/mscomplex3d</a:t>
            </a:r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）详细分析代码，结合对论文算法的理解进行分析 ，阐述可改进思路。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  <a:p>
            <a:pPr lvl="2"/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E27B2CB3-C85E-4EE8-99E1-30B765D0951F}"/>
              </a:ext>
            </a:extLst>
          </p:cNvPr>
          <p:cNvSpPr txBox="1">
            <a:spLocks/>
          </p:cNvSpPr>
          <p:nvPr/>
        </p:nvSpPr>
        <p:spPr bwMode="auto">
          <a:xfrm>
            <a:off x="65598" y="503805"/>
            <a:ext cx="11700779" cy="41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571500" indent="-571500" defTabSz="914400">
              <a:buSzTx/>
              <a:buFont typeface="Arial" panose="020B0604020202020204" pitchFamily="34" charset="0"/>
              <a:buChar char="•"/>
            </a:pPr>
            <a:r>
              <a:rPr lang="zh-CN" altLang="en-US" sz="2800" kern="0" dirty="0"/>
              <a:t>期末</a:t>
            </a:r>
            <a:r>
              <a:rPr lang="en-US" altLang="zh-CN" sz="2800" kern="0" dirty="0"/>
              <a:t>---</a:t>
            </a:r>
            <a:r>
              <a:rPr lang="zh-CN" altLang="en-US" sz="2800" kern="0" dirty="0"/>
              <a:t>类型</a:t>
            </a:r>
            <a:r>
              <a:rPr lang="en-US" altLang="zh-CN" sz="2800" kern="0" dirty="0"/>
              <a:t>2</a:t>
            </a:r>
            <a:r>
              <a:rPr lang="zh-CN" altLang="en-US" sz="2800" kern="0" dirty="0"/>
              <a:t>：</a:t>
            </a:r>
            <a:r>
              <a:rPr lang="zh-CN" altLang="en-US" sz="2800" dirty="0"/>
              <a:t>系数</a:t>
            </a:r>
            <a:r>
              <a:rPr lang="en-US" altLang="zh-CN" sz="2800" dirty="0"/>
              <a:t>1.0</a:t>
            </a:r>
            <a:r>
              <a:rPr lang="zh-CN" altLang="en-US" sz="2800" dirty="0"/>
              <a:t>， </a:t>
            </a:r>
            <a:r>
              <a:rPr lang="zh-CN" altLang="en-US" sz="2800" kern="0" dirty="0"/>
              <a:t>代码分析及编程实践</a:t>
            </a:r>
          </a:p>
        </p:txBody>
      </p:sp>
    </p:spTree>
    <p:extLst>
      <p:ext uri="{BB962C8B-B14F-4D97-AF65-F5344CB8AC3E}">
        <p14:creationId xmlns:p14="http://schemas.microsoft.com/office/powerpoint/2010/main" val="210173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3" y="1043841"/>
            <a:ext cx="12001646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9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/>
              <a:t> </a:t>
            </a:r>
            <a:r>
              <a:rPr lang="zh-CN" altLang="en-US" sz="3200" dirty="0"/>
              <a:t>昇腾算子开发工程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）实现一个</a:t>
            </a:r>
            <a:r>
              <a:rPr lang="en-US" altLang="zh-CN" sz="2400" dirty="0"/>
              <a:t>op-math</a:t>
            </a:r>
            <a:r>
              <a:rPr lang="zh-CN" altLang="en-US" sz="2400" dirty="0"/>
              <a:t>开源工程中尚未实现的昇腾算子，并成功提交开源贡献代码，例如，</a:t>
            </a:r>
            <a:r>
              <a:rPr lang="en-US" altLang="zh-CN" sz="2400" dirty="0"/>
              <a:t> </a:t>
            </a:r>
            <a:br>
              <a:rPr lang="en-US" altLang="zh-CN" sz="2400" dirty="0"/>
            </a:br>
            <a:r>
              <a:rPr lang="en-US" altLang="zh-CN" sz="2400" dirty="0">
                <a:hlinkClick r:id="rId2"/>
              </a:rPr>
              <a:t>https://gitcode.com/cann/ops-math/tree/master/conversion/reshape</a:t>
            </a:r>
            <a:br>
              <a:rPr lang="en-US" altLang="zh-CN" sz="2400" dirty="0"/>
            </a:br>
            <a:r>
              <a:rPr lang="en-US" altLang="zh-CN" sz="2400" dirty="0">
                <a:hlinkClick r:id="rId3"/>
              </a:rPr>
              <a:t>https://gitcode.com/cann/ops-math/blob/master/math/atanh</a:t>
            </a:r>
            <a:br>
              <a:rPr lang="en-US" altLang="zh-CN" sz="2400" dirty="0"/>
            </a:br>
            <a:r>
              <a:rPr lang="zh-CN" altLang="en-US" sz="2400" dirty="0"/>
              <a:t>可以任选</a:t>
            </a:r>
            <a:r>
              <a:rPr lang="en-US" altLang="zh-CN" sz="2400" dirty="0"/>
              <a:t>op-math</a:t>
            </a:r>
            <a:r>
              <a:rPr lang="zh-CN" altLang="en-US" sz="2400" dirty="0"/>
              <a:t>下没有实现的昇腾算子工程。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 </a:t>
            </a:r>
            <a:r>
              <a:rPr lang="zh-CN" altLang="en-US" sz="2400" dirty="0"/>
              <a:t>具体参见网址</a:t>
            </a:r>
            <a:r>
              <a:rPr lang="en-US" altLang="zh-CN" sz="2400" dirty="0">
                <a:hlinkClick r:id="rId4"/>
              </a:rPr>
              <a:t>https://gitcode.com/cann/ops-math/blob/master/CONTRIBUTING.md</a:t>
            </a:r>
            <a:br>
              <a:rPr lang="en-US" altLang="zh-CN" sz="2400" dirty="0"/>
            </a:br>
            <a:r>
              <a:rPr lang="en-US" altLang="zh-CN" sz="2400" dirty="0">
                <a:hlinkClick r:id="rId5"/>
              </a:rPr>
              <a:t>https://gitcode.com/cann/ops-math/blob/master/docs/zh/op_list.md</a:t>
            </a:r>
            <a:endParaRPr lang="en-US" altLang="zh-CN" sz="2400" dirty="0"/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2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2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E27B2CB3-C85E-4EE8-99E1-30B765D0951F}"/>
              </a:ext>
            </a:extLst>
          </p:cNvPr>
          <p:cNvSpPr txBox="1">
            <a:spLocks/>
          </p:cNvSpPr>
          <p:nvPr/>
        </p:nvSpPr>
        <p:spPr bwMode="auto">
          <a:xfrm>
            <a:off x="65598" y="503805"/>
            <a:ext cx="11700779" cy="41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571500" indent="-571500" defTabSz="914400">
              <a:buSzTx/>
              <a:buFont typeface="Arial" panose="020B0604020202020204" pitchFamily="34" charset="0"/>
              <a:buChar char="•"/>
            </a:pPr>
            <a:r>
              <a:rPr lang="zh-CN" altLang="en-US" sz="2800" kern="0" dirty="0"/>
              <a:t>期末</a:t>
            </a:r>
            <a:r>
              <a:rPr lang="en-US" altLang="zh-CN" sz="2800" kern="0" dirty="0"/>
              <a:t>---</a:t>
            </a:r>
            <a:r>
              <a:rPr lang="zh-CN" altLang="en-US" sz="2800" kern="0" dirty="0"/>
              <a:t>类型</a:t>
            </a:r>
            <a:r>
              <a:rPr lang="en-US" altLang="zh-CN" sz="2800" kern="0" dirty="0"/>
              <a:t>3</a:t>
            </a:r>
            <a:r>
              <a:rPr lang="zh-CN" altLang="en-US" sz="2800" kern="0" dirty="0"/>
              <a:t>：</a:t>
            </a:r>
            <a:r>
              <a:rPr lang="zh-CN" altLang="en-US" sz="2800" dirty="0"/>
              <a:t>系数</a:t>
            </a:r>
            <a:r>
              <a:rPr lang="en-US" altLang="zh-CN" sz="2800" dirty="0"/>
              <a:t>1.2</a:t>
            </a:r>
            <a:r>
              <a:rPr lang="zh-CN" altLang="en-US" sz="2800" dirty="0"/>
              <a:t>， 并行</a:t>
            </a:r>
            <a:r>
              <a:rPr lang="zh-CN" altLang="en-US" sz="2800" kern="0" dirty="0"/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44325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2" y="1043841"/>
            <a:ext cx="12112247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10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/>
              <a:t> GPU</a:t>
            </a:r>
            <a:r>
              <a:rPr lang="zh-CN" altLang="en-US" sz="3200" dirty="0"/>
              <a:t>代码开发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）翻译论文</a:t>
            </a:r>
            <a:r>
              <a:rPr lang="en-US" altLang="zh-CN" sz="2400" dirty="0"/>
              <a:t>A Parallel Approach to Compression and Decompression of Triangle Meshes using the GPU</a:t>
            </a:r>
            <a:r>
              <a:rPr lang="zh-CN" altLang="en-US" sz="2400" dirty="0"/>
              <a:t>，整理排版成</a:t>
            </a:r>
            <a:r>
              <a:rPr lang="zh-CN" altLang="en-US" sz="2400" dirty="0">
                <a:solidFill>
                  <a:srgbClr val="FF0000"/>
                </a:solidFill>
              </a:rPr>
              <a:t>单栏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zh-CN" altLang="en-US" sz="2400" dirty="0">
                <a:solidFill>
                  <a:srgbClr val="FF0000"/>
                </a:solidFill>
              </a:rPr>
              <a:t>文档</a:t>
            </a:r>
            <a:r>
              <a:rPr lang="zh-CN" altLang="en-US" sz="2400" dirty="0"/>
              <a:t>格式，格式清晰。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）对照论文思路，开发出对应的</a:t>
            </a:r>
            <a:r>
              <a:rPr lang="en-US" altLang="zh-CN" sz="2400" dirty="0"/>
              <a:t>CUDA</a:t>
            </a:r>
            <a:r>
              <a:rPr lang="zh-CN" altLang="en-US" sz="2400" dirty="0"/>
              <a:t>代码</a:t>
            </a:r>
            <a:endParaRPr lang="en-US" altLang="zh-CN" sz="2400" dirty="0"/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）详细分析代码实现思路，结合对论文算法的理解进行分析，阐述实现细节。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  <a:p>
            <a:pPr lvl="2"/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E27B2CB3-C85E-4EE8-99E1-30B765D0951F}"/>
              </a:ext>
            </a:extLst>
          </p:cNvPr>
          <p:cNvSpPr txBox="1">
            <a:spLocks/>
          </p:cNvSpPr>
          <p:nvPr/>
        </p:nvSpPr>
        <p:spPr bwMode="auto">
          <a:xfrm>
            <a:off x="65598" y="503805"/>
            <a:ext cx="11700779" cy="41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571500" indent="-571500" defTabSz="914400">
              <a:buSzTx/>
              <a:buFont typeface="Arial" panose="020B0604020202020204" pitchFamily="34" charset="0"/>
              <a:buChar char="•"/>
            </a:pPr>
            <a:r>
              <a:rPr lang="zh-CN" altLang="en-US" sz="2800" kern="0" dirty="0"/>
              <a:t>期末</a:t>
            </a:r>
            <a:r>
              <a:rPr lang="en-US" altLang="zh-CN" sz="2800" kern="0" dirty="0"/>
              <a:t>---</a:t>
            </a:r>
            <a:r>
              <a:rPr lang="zh-CN" altLang="en-US" sz="2800" kern="0" dirty="0"/>
              <a:t>类型</a:t>
            </a:r>
            <a:r>
              <a:rPr lang="en-US" altLang="zh-CN" sz="2800" kern="0" dirty="0"/>
              <a:t>3</a:t>
            </a:r>
            <a:r>
              <a:rPr lang="zh-CN" altLang="en-US" sz="2800" kern="0" dirty="0"/>
              <a:t>：</a:t>
            </a:r>
            <a:r>
              <a:rPr lang="zh-CN" altLang="en-US" sz="2800" dirty="0"/>
              <a:t>系数</a:t>
            </a:r>
            <a:r>
              <a:rPr lang="en-US" altLang="zh-CN" sz="2800" dirty="0"/>
              <a:t>1.2</a:t>
            </a:r>
            <a:r>
              <a:rPr lang="zh-CN" altLang="en-US" sz="2800" dirty="0"/>
              <a:t>， 并行</a:t>
            </a:r>
            <a:r>
              <a:rPr lang="zh-CN" altLang="en-US" sz="2800" kern="0" dirty="0"/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31636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AAF21-64CE-45C6-8453-C6E2956A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2" y="1043841"/>
            <a:ext cx="12112247" cy="3611319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00"/>
                </a:solidFill>
              </a:rPr>
              <a:t> 题目</a:t>
            </a:r>
            <a:r>
              <a:rPr lang="en-US" altLang="zh-CN" sz="3200" dirty="0">
                <a:solidFill>
                  <a:srgbClr val="FF0000"/>
                </a:solidFill>
              </a:rPr>
              <a:t>11</a:t>
            </a:r>
            <a:r>
              <a:rPr lang="zh-CN" altLang="en-US" sz="3200" dirty="0">
                <a:solidFill>
                  <a:srgbClr val="FF0000"/>
                </a:solidFill>
              </a:rPr>
              <a:t>：</a:t>
            </a:r>
            <a:r>
              <a:rPr lang="en-US" altLang="zh-CN" sz="3200" dirty="0"/>
              <a:t> GPU</a:t>
            </a:r>
            <a:r>
              <a:rPr lang="zh-CN" altLang="en-US" sz="3200" dirty="0"/>
              <a:t>代码开发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3200" dirty="0"/>
              <a:t>要求</a:t>
            </a:r>
            <a:r>
              <a:rPr lang="zh-CN" altLang="en-US" sz="3200" dirty="0">
                <a:sym typeface="Wingdings" panose="05000000000000000000" pitchFamily="2" charset="2"/>
              </a:rPr>
              <a:t>：（上限小组数：</a:t>
            </a:r>
            <a:r>
              <a:rPr lang="en-US" altLang="zh-CN" sz="3200" dirty="0">
                <a:sym typeface="Wingdings" panose="05000000000000000000" pitchFamily="2" charset="2"/>
              </a:rPr>
              <a:t>3</a:t>
            </a:r>
            <a:r>
              <a:rPr lang="zh-CN" altLang="en-US" sz="3200" dirty="0">
                <a:sym typeface="Wingdings" panose="05000000000000000000" pitchFamily="2" charset="2"/>
              </a:rPr>
              <a:t>）</a:t>
            </a:r>
            <a:endParaRPr lang="en-US" altLang="zh-CN" sz="3200" dirty="0"/>
          </a:p>
          <a:p>
            <a:pPr lvl="2"/>
            <a:r>
              <a:rPr lang="en-US" altLang="zh-CN" sz="2400" dirty="0"/>
              <a:t>1</a:t>
            </a:r>
            <a:r>
              <a:rPr lang="zh-CN" altLang="en-US" sz="2400" dirty="0"/>
              <a:t>）翻译论文</a:t>
            </a:r>
            <a:r>
              <a:rPr lang="en-US" altLang="zh-CN" sz="2400" dirty="0"/>
              <a:t>Jacobi sets of multiple Morse functions</a:t>
            </a:r>
            <a:r>
              <a:rPr lang="zh-CN" altLang="en-US" sz="2400" dirty="0"/>
              <a:t>，整理排版成</a:t>
            </a:r>
            <a:r>
              <a:rPr lang="zh-CN" altLang="en-US" sz="2400" dirty="0">
                <a:solidFill>
                  <a:srgbClr val="FF0000"/>
                </a:solidFill>
              </a:rPr>
              <a:t>单栏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zh-CN" altLang="en-US" sz="2400" dirty="0">
                <a:solidFill>
                  <a:srgbClr val="FF0000"/>
                </a:solidFill>
              </a:rPr>
              <a:t>文档</a:t>
            </a:r>
            <a:r>
              <a:rPr lang="zh-CN" altLang="en-US" sz="2400" dirty="0"/>
              <a:t>格式，格式清晰。</a:t>
            </a:r>
            <a:endParaRPr lang="en-US" altLang="zh-CN" sz="2400" dirty="0"/>
          </a:p>
          <a:p>
            <a:pPr lvl="2"/>
            <a:r>
              <a:rPr lang="en-US" altLang="zh-CN" sz="2400" dirty="0"/>
              <a:t>2</a:t>
            </a:r>
            <a:r>
              <a:rPr lang="zh-CN" altLang="en-US" sz="2400" dirty="0"/>
              <a:t>）对照论文思路及其串行代码</a:t>
            </a:r>
            <a:r>
              <a:rPr lang="en-US" altLang="zh-CN" sz="2400" dirty="0"/>
              <a:t>https://github.com/bhatiaharsh/JacobiSetComputation</a:t>
            </a:r>
            <a:r>
              <a:rPr lang="zh-CN" altLang="en-US" sz="2400" dirty="0"/>
              <a:t>，开发出对应的并行的</a:t>
            </a:r>
            <a:r>
              <a:rPr lang="en-US" altLang="zh-CN" sz="2400" dirty="0"/>
              <a:t>CUDA</a:t>
            </a:r>
            <a:r>
              <a:rPr lang="zh-CN" altLang="en-US" sz="2400" dirty="0"/>
              <a:t>代码</a:t>
            </a:r>
            <a:endParaRPr lang="en-US" altLang="zh-CN" sz="2400" dirty="0"/>
          </a:p>
          <a:p>
            <a:pPr lvl="2"/>
            <a:r>
              <a:rPr lang="en-US" altLang="zh-CN" sz="2400" dirty="0"/>
              <a:t>3</a:t>
            </a:r>
            <a:r>
              <a:rPr lang="zh-CN" altLang="en-US" sz="2400" dirty="0"/>
              <a:t>）详细分析代码实现思路，结合对论文算法的理解进行分析，阐述实现细节。</a:t>
            </a:r>
            <a:endParaRPr lang="en-US" altLang="zh-CN" sz="2400" dirty="0"/>
          </a:p>
          <a:p>
            <a:pPr lvl="2"/>
            <a:r>
              <a:rPr lang="en-US" altLang="zh-CN" sz="2400" dirty="0"/>
              <a:t>4</a:t>
            </a:r>
            <a:r>
              <a:rPr lang="zh-CN" altLang="en-US" sz="2400" dirty="0"/>
              <a:t>）将上述</a:t>
            </a:r>
            <a:r>
              <a:rPr lang="en-US" altLang="zh-CN" sz="2400" dirty="0"/>
              <a:t>3</a:t>
            </a:r>
            <a:r>
              <a:rPr lang="zh-CN" altLang="en-US" sz="2400" dirty="0"/>
              <a:t>项内容分成</a:t>
            </a:r>
            <a:r>
              <a:rPr lang="en-US" altLang="zh-CN" sz="2400" dirty="0"/>
              <a:t>3</a:t>
            </a:r>
            <a:r>
              <a:rPr lang="zh-CN" altLang="en-US" sz="2400" dirty="0"/>
              <a:t>个部分，写在一个文档里，文档加封面，封面模板。</a:t>
            </a:r>
            <a:endParaRPr lang="en-US" altLang="zh-CN" sz="2400" dirty="0"/>
          </a:p>
          <a:p>
            <a:pPr lvl="2"/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E27B2CB3-C85E-4EE8-99E1-30B765D0951F}"/>
              </a:ext>
            </a:extLst>
          </p:cNvPr>
          <p:cNvSpPr txBox="1">
            <a:spLocks/>
          </p:cNvSpPr>
          <p:nvPr/>
        </p:nvSpPr>
        <p:spPr bwMode="auto">
          <a:xfrm>
            <a:off x="65598" y="503805"/>
            <a:ext cx="11700779" cy="41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571500" indent="-571500" defTabSz="914400">
              <a:buSzTx/>
              <a:buFont typeface="Arial" panose="020B0604020202020204" pitchFamily="34" charset="0"/>
              <a:buChar char="•"/>
            </a:pPr>
            <a:r>
              <a:rPr lang="zh-CN" altLang="en-US" sz="2800" kern="0" dirty="0"/>
              <a:t>期末</a:t>
            </a:r>
            <a:r>
              <a:rPr lang="en-US" altLang="zh-CN" sz="2800" kern="0" dirty="0"/>
              <a:t>---</a:t>
            </a:r>
            <a:r>
              <a:rPr lang="zh-CN" altLang="en-US" sz="2800" kern="0" dirty="0"/>
              <a:t>类型</a:t>
            </a:r>
            <a:r>
              <a:rPr lang="en-US" altLang="zh-CN" sz="2800" kern="0" dirty="0"/>
              <a:t>3</a:t>
            </a:r>
            <a:r>
              <a:rPr lang="zh-CN" altLang="en-US" sz="2800" kern="0" dirty="0"/>
              <a:t>：</a:t>
            </a:r>
            <a:r>
              <a:rPr lang="zh-CN" altLang="en-US" sz="2800" dirty="0"/>
              <a:t>系数</a:t>
            </a:r>
            <a:r>
              <a:rPr lang="en-US" altLang="zh-CN" sz="2800" dirty="0"/>
              <a:t>1.2</a:t>
            </a:r>
            <a:r>
              <a:rPr lang="zh-CN" altLang="en-US" sz="2800" dirty="0"/>
              <a:t>， 并行</a:t>
            </a:r>
            <a:r>
              <a:rPr lang="zh-CN" altLang="en-US" sz="2800" kern="0" dirty="0"/>
              <a:t>编程实践</a:t>
            </a:r>
          </a:p>
        </p:txBody>
      </p:sp>
    </p:spTree>
    <p:extLst>
      <p:ext uri="{BB962C8B-B14F-4D97-AF65-F5344CB8AC3E}">
        <p14:creationId xmlns:p14="http://schemas.microsoft.com/office/powerpoint/2010/main" val="240083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A8D370F5-F1A4-4157-8D0A-1E17FDF5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" y="513948"/>
            <a:ext cx="8956141" cy="41793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800" dirty="0"/>
              <a:t>期末考查任务安排：</a:t>
            </a:r>
            <a:endParaRPr lang="en-US" altLang="zh-CN" sz="2800" dirty="0"/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3DCD2BFD-5715-4BAF-B4E5-616E5EB49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04" y="1178850"/>
            <a:ext cx="9010805" cy="4876800"/>
          </a:xfrm>
        </p:spPr>
        <p:txBody>
          <a:bodyPr/>
          <a:lstStyle/>
          <a:p>
            <a:r>
              <a:rPr lang="zh-CN" altLang="en-US" sz="2400" dirty="0"/>
              <a:t>每个题目有选题上限，先报名先得。</a:t>
            </a:r>
            <a:endParaRPr lang="en-US" altLang="zh-CN" sz="2400" dirty="0"/>
          </a:p>
          <a:p>
            <a:r>
              <a:rPr lang="zh-CN" altLang="en-US" sz="2400" dirty="0"/>
              <a:t>开始进行验收检查，先提前预约检查时间。</a:t>
            </a:r>
            <a:endParaRPr lang="en-US" altLang="zh-CN" sz="2400" dirty="0"/>
          </a:p>
          <a:p>
            <a:r>
              <a:rPr lang="zh-CN" altLang="en-US" sz="2400" dirty="0"/>
              <a:t>最晚截至时间另行通知。</a:t>
            </a:r>
            <a:endParaRPr lang="en-US" altLang="zh-CN" sz="2400" dirty="0"/>
          </a:p>
          <a:p>
            <a:r>
              <a:rPr lang="zh-CN" altLang="en-US" sz="2400" dirty="0"/>
              <a:t>提交源代码、整个工程以及实验报告。</a:t>
            </a:r>
          </a:p>
          <a:p>
            <a:endParaRPr lang="en-US" altLang="zh-CN" sz="2400" dirty="0"/>
          </a:p>
          <a:p>
            <a:pPr lvl="2"/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54725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0"/>
    </mc:Choice>
    <mc:Fallback xmlns="">
      <p:transition spd="slow" advTm="98370"/>
    </mc:Fallback>
  </mc:AlternateContent>
</p:sld>
</file>

<file path=ppt/theme/theme1.xml><?xml version="1.0" encoding="utf-8"?>
<a:theme xmlns:a="http://schemas.openxmlformats.org/drawingml/2006/main" name="Lenovo_Corporate_Template_White">
  <a:themeElements>
    <a:clrScheme name="">
      <a:dk1>
        <a:srgbClr val="000000"/>
      </a:dk1>
      <a:lt1>
        <a:srgbClr val="FFFFFF"/>
      </a:lt1>
      <a:dk2>
        <a:srgbClr val="00529B"/>
      </a:dk2>
      <a:lt2>
        <a:srgbClr val="808080"/>
      </a:lt2>
      <a:accent1>
        <a:srgbClr val="FFCC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000000"/>
      </a:accent6>
      <a:hlink>
        <a:srgbClr val="EE0802"/>
      </a:hlink>
      <a:folHlink>
        <a:srgbClr val="FF9900"/>
      </a:folHlink>
    </a:clrScheme>
    <a:fontScheme name="Lenovo_Corporate_Template_White">
      <a:majorFont>
        <a:latin typeface="黑体"/>
        <a:ea typeface="黑体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100000"/>
          <a:buFont typeface="Times New Roman" pitchFamily="18" charset="0"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100000"/>
          <a:buFont typeface="Times New Roman" pitchFamily="18" charset="0"/>
          <a:buNone/>
          <a:tabLst/>
          <a:defRPr kumimoji="0" lang="en-GB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宋体" pitchFamily="2" charset="-122"/>
          </a:defRPr>
        </a:defPPr>
      </a:lstStyle>
    </a:lnDef>
  </a:objectDefaults>
  <a:extraClrSchemeLst>
    <a:extraClrScheme>
      <a:clrScheme name="Lenovo_Corporate_Template_Whi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novo_Corporate_Template_Whi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novo_Corporate_Template_Whi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novo_Corporate_Template_Whi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novo_Corporate_Template_Whi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novo_Corporate_Template_Whi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novo_Corporate_Template_Whi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novo_Corporate_Template_Whi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novo_Corporate_Template_Whi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novo_Corporate_Template_Whi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novo_Corporate_Template_Whi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novo_Corporate_Template_Whi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novo_Corporate_Template_White 13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ED1C24"/>
        </a:hlink>
        <a:folHlink>
          <a:srgbClr val="99361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novo_Corporate_Template_White 14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FC726"/>
        </a:accent1>
        <a:accent2>
          <a:srgbClr val="00529B"/>
        </a:accent2>
        <a:accent3>
          <a:srgbClr val="FFFFFF"/>
        </a:accent3>
        <a:accent4>
          <a:srgbClr val="000000"/>
        </a:accent4>
        <a:accent5>
          <a:srgbClr val="FFE0AC"/>
        </a:accent5>
        <a:accent6>
          <a:srgbClr val="00498C"/>
        </a:accent6>
        <a:hlink>
          <a:srgbClr val="5F5F5F"/>
        </a:hlink>
        <a:folHlink>
          <a:srgbClr val="FF11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novo_Corporate_Template_White 15">
        <a:dk1>
          <a:srgbClr val="000000"/>
        </a:dk1>
        <a:lt1>
          <a:srgbClr val="FFFFFF"/>
        </a:lt1>
        <a:dk2>
          <a:srgbClr val="0066CC"/>
        </a:dk2>
        <a:lt2>
          <a:srgbClr val="969696"/>
        </a:lt2>
        <a:accent1>
          <a:srgbClr val="FFC726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E0AC"/>
        </a:accent5>
        <a:accent6>
          <a:srgbClr val="E78A00"/>
        </a:accent6>
        <a:hlink>
          <a:srgbClr val="009900"/>
        </a:hlink>
        <a:folHlink>
          <a:srgbClr val="FF11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novo_Corporate_Template_White 16">
        <a:dk1>
          <a:srgbClr val="000000"/>
        </a:dk1>
        <a:lt1>
          <a:srgbClr val="FFFFFF"/>
        </a:lt1>
        <a:dk2>
          <a:srgbClr val="0066CC"/>
        </a:dk2>
        <a:lt2>
          <a:srgbClr val="969696"/>
        </a:lt2>
        <a:accent1>
          <a:srgbClr val="FFC726"/>
        </a:accent1>
        <a:accent2>
          <a:srgbClr val="0066CC"/>
        </a:accent2>
        <a:accent3>
          <a:srgbClr val="FFFFFF"/>
        </a:accent3>
        <a:accent4>
          <a:srgbClr val="000000"/>
        </a:accent4>
        <a:accent5>
          <a:srgbClr val="FFE0AC"/>
        </a:accent5>
        <a:accent6>
          <a:srgbClr val="005CB9"/>
        </a:accent6>
        <a:hlink>
          <a:srgbClr val="009900"/>
        </a:hlink>
        <a:folHlink>
          <a:srgbClr val="FF11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16815</TotalTime>
  <Pages>0</Pages>
  <Words>1579</Words>
  <Characters>0</Characters>
  <Application>Microsoft Office PowerPoint</Application>
  <DocSecurity>0</DocSecurity>
  <PresentationFormat>宽屏</PresentationFormat>
  <Lines>0</Lines>
  <Paragraphs>92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黑体</vt:lpstr>
      <vt:lpstr>华文细黑</vt:lpstr>
      <vt:lpstr>宋体</vt:lpstr>
      <vt:lpstr>Arial</vt:lpstr>
      <vt:lpstr>Calibri</vt:lpstr>
      <vt:lpstr>Times New Roman</vt:lpstr>
      <vt:lpstr>Verdana</vt:lpstr>
      <vt:lpstr>Wingdings</vt:lpstr>
      <vt:lpstr>Lenovo_Corporate_Template_White</vt:lpstr>
      <vt:lpstr>PowerPoint 演示文稿</vt:lpstr>
      <vt:lpstr>期末---类型1：系数0.95，代码分析及优化实践</vt:lpstr>
      <vt:lpstr>期末---类型1：系数0.95，代码分析及优化实践</vt:lpstr>
      <vt:lpstr>期末---类型1：系数0.95，代码分析及优化实践</vt:lpstr>
      <vt:lpstr>期末---类型1：系数0.95，代码分析及优化实践</vt:lpstr>
      <vt:lpstr>期末---类型1：系数0.95，代码分析及优化实践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期末考查任务安排：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骞荤伅鐗?1</dc:title>
  <dc:creator>鏉庣妗?</dc:creator>
  <cp:lastModifiedBy>huangzb</cp:lastModifiedBy>
  <cp:revision>1178</cp:revision>
  <cp:lastPrinted>1601-01-01T00:00:00Z</cp:lastPrinted>
  <dcterms:created xsi:type="dcterms:W3CDTF">2011-03-29T02:18:44Z</dcterms:created>
  <dcterms:modified xsi:type="dcterms:W3CDTF">2026-04-26T00:30:49Z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2052-6.6.0.2699</vt:lpwstr>
  </property>
</Properties>
</file>